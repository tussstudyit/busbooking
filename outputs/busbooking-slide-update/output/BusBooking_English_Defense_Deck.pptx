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a324dd8cf446ec" /><Relationship Type="http://schemas.openxmlformats.org/officeDocument/2006/relationships/extended-properties" Target="/docProps/app.xml" Id="R6f463d91c48b456d" /><Relationship Type="http://schemas.openxmlformats.org/officeDocument/2006/relationships/officeDocument" Target="/ppt/presentation.xml" Id="Rd45b27c229bd4d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74934f2fe14ed7"/>
  </p:sldMasterIdLst>
  <p:notesMasterIdLst>
    <p:notesMasterId xmlns:r="http://schemas.openxmlformats.org/officeDocument/2006/relationships" r:id="Rcb9348409f2c434b"/>
  </p:notesMasterIdLst>
  <p:sldIdLst>
    <p:sldId xmlns:r="http://schemas.openxmlformats.org/officeDocument/2006/relationships" id="256" r:id="R268eee35bd0d4336"/>
    <p:sldId xmlns:r="http://schemas.openxmlformats.org/officeDocument/2006/relationships" id="257" r:id="Rc995228ee1774408"/>
    <p:sldId xmlns:r="http://schemas.openxmlformats.org/officeDocument/2006/relationships" id="258" r:id="Ra5b65ae8c7c840e9"/>
    <p:sldId xmlns:r="http://schemas.openxmlformats.org/officeDocument/2006/relationships" id="259" r:id="R3a087d5716a2423b"/>
    <p:sldId xmlns:r="http://schemas.openxmlformats.org/officeDocument/2006/relationships" id="260" r:id="Rd2f8ac1c801142a5"/>
    <p:sldId xmlns:r="http://schemas.openxmlformats.org/officeDocument/2006/relationships" id="261" r:id="Rfbbb4caf6969485d"/>
    <p:sldId xmlns:r="http://schemas.openxmlformats.org/officeDocument/2006/relationships" id="262" r:id="Ra5722a549926424c"/>
    <p:sldId xmlns:r="http://schemas.openxmlformats.org/officeDocument/2006/relationships" id="263" r:id="R31b04a1ab5a84802"/>
    <p:sldId xmlns:r="http://schemas.openxmlformats.org/officeDocument/2006/relationships" id="264" r:id="R198bcf856c614f5e"/>
    <p:sldId xmlns:r="http://schemas.openxmlformats.org/officeDocument/2006/relationships" id="265" r:id="Rae6da79a3aaa4182"/>
    <p:sldId xmlns:r="http://schemas.openxmlformats.org/officeDocument/2006/relationships" id="266" r:id="Rd296636c02ad4845"/>
    <p:sldId xmlns:r="http://schemas.openxmlformats.org/officeDocument/2006/relationships" id="267" r:id="R65eacd3b9987486f"/>
    <p:sldId xmlns:r="http://schemas.openxmlformats.org/officeDocument/2006/relationships" id="268" r:id="R378dcf6116eb46c7"/>
    <p:sldId xmlns:r="http://schemas.openxmlformats.org/officeDocument/2006/relationships" id="269" r:id="R422fd2d879e54fc9"/>
    <p:sldId xmlns:r="http://schemas.openxmlformats.org/officeDocument/2006/relationships" id="270" r:id="R33dc23ce542d4f07"/>
    <p:sldId xmlns:r="http://schemas.openxmlformats.org/officeDocument/2006/relationships" id="271" r:id="R6b658a74c0a547db"/>
    <p:sldId xmlns:r="http://schemas.openxmlformats.org/officeDocument/2006/relationships" id="272" r:id="Rc6eff8f7e14e4ffb"/>
    <p:sldId xmlns:r="http://schemas.openxmlformats.org/officeDocument/2006/relationships" id="273" r:id="Ra7b62a828dc440a5"/>
    <p:sldId xmlns:r="http://schemas.openxmlformats.org/officeDocument/2006/relationships" id="274" r:id="R87e87662aae7471f"/>
    <p:sldId xmlns:r="http://schemas.openxmlformats.org/officeDocument/2006/relationships" id="275" r:id="R807ccc4c5c4441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4934f2fe14ed7" /><Relationship Type="http://schemas.openxmlformats.org/officeDocument/2006/relationships/theme" Target="/ppt/theme/theme1.xml" Id="R3f1d90f53d8748ad" /><Relationship Type="http://schemas.openxmlformats.org/officeDocument/2006/relationships/notesMaster" Target="/ppt/notesMasters/notesMaster1.xml" Id="Rcb9348409f2c434b" /><Relationship Type="http://schemas.openxmlformats.org/officeDocument/2006/relationships/presProps" Target="/ppt/presProps.xml" Id="R6f8f64d3cf5d4442" /><Relationship Type="http://schemas.openxmlformats.org/officeDocument/2006/relationships/viewProps" Target="/ppt/viewProps.xml" Id="Rec186e51c4014800" /><Relationship Type="http://schemas.openxmlformats.org/officeDocument/2006/relationships/tableStyles" Target="/ppt/tableStyles.xml" Id="R0e9aa01eb08941c3" /><Relationship Type="http://schemas.openxmlformats.org/officeDocument/2006/relationships/slide" Target="/ppt/slides/slide1.xml" Id="R268eee35bd0d4336" /><Relationship Type="http://schemas.openxmlformats.org/officeDocument/2006/relationships/slide" Target="/ppt/slides/slide2.xml" Id="Rc995228ee1774408" /><Relationship Type="http://schemas.openxmlformats.org/officeDocument/2006/relationships/slide" Target="/ppt/slides/slide3.xml" Id="Ra5b65ae8c7c840e9" /><Relationship Type="http://schemas.openxmlformats.org/officeDocument/2006/relationships/slide" Target="/ppt/slides/slide4.xml" Id="R3a087d5716a2423b" /><Relationship Type="http://schemas.openxmlformats.org/officeDocument/2006/relationships/slide" Target="/ppt/slides/slide5.xml" Id="Rd2f8ac1c801142a5" /><Relationship Type="http://schemas.openxmlformats.org/officeDocument/2006/relationships/slide" Target="/ppt/slides/slide6.xml" Id="Rfbbb4caf6969485d" /><Relationship Type="http://schemas.openxmlformats.org/officeDocument/2006/relationships/slide" Target="/ppt/slides/slide7.xml" Id="Ra5722a549926424c" /><Relationship Type="http://schemas.openxmlformats.org/officeDocument/2006/relationships/slide" Target="/ppt/slides/slide8.xml" Id="R31b04a1ab5a84802" /><Relationship Type="http://schemas.openxmlformats.org/officeDocument/2006/relationships/slide" Target="/ppt/slides/slide9.xml" Id="R198bcf856c614f5e" /><Relationship Type="http://schemas.openxmlformats.org/officeDocument/2006/relationships/slide" Target="/ppt/slides/slide10.xml" Id="Rae6da79a3aaa4182" /><Relationship Type="http://schemas.openxmlformats.org/officeDocument/2006/relationships/slide" Target="/ppt/slides/slide11.xml" Id="Rd296636c02ad4845" /><Relationship Type="http://schemas.openxmlformats.org/officeDocument/2006/relationships/slide" Target="/ppt/slides/slide12.xml" Id="R65eacd3b9987486f" /><Relationship Type="http://schemas.openxmlformats.org/officeDocument/2006/relationships/slide" Target="/ppt/slides/slide13.xml" Id="R378dcf6116eb46c7" /><Relationship Type="http://schemas.openxmlformats.org/officeDocument/2006/relationships/slide" Target="/ppt/slides/slide14.xml" Id="R422fd2d879e54fc9" /><Relationship Type="http://schemas.openxmlformats.org/officeDocument/2006/relationships/slide" Target="/ppt/slides/slide15.xml" Id="R33dc23ce542d4f07" /><Relationship Type="http://schemas.openxmlformats.org/officeDocument/2006/relationships/slide" Target="/ppt/slides/slide16.xml" Id="R6b658a74c0a547db" /><Relationship Type="http://schemas.openxmlformats.org/officeDocument/2006/relationships/slide" Target="/ppt/slides/slide17.xml" Id="Rc6eff8f7e14e4ffb" /><Relationship Type="http://schemas.openxmlformats.org/officeDocument/2006/relationships/slide" Target="/ppt/slides/slide18.xml" Id="Ra7b62a828dc440a5" /><Relationship Type="http://schemas.openxmlformats.org/officeDocument/2006/relationships/slide" Target="/ppt/slides/slide19.xml" Id="R87e87662aae7471f" /><Relationship Type="http://schemas.openxmlformats.org/officeDocument/2006/relationships/slide" Target="/ppt/slides/slide20.xml" Id="R807ccc4c5c44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e42dd0a268e4c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50a770403c4765" /><Relationship Type="http://schemas.openxmlformats.org/officeDocument/2006/relationships/notesMaster" Target="/ppt/notesMasters/notesMaster1.xml" Id="R63deca2c09834b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87138232ac4337" /><Relationship Type="http://schemas.openxmlformats.org/officeDocument/2006/relationships/notesMaster" Target="/ppt/notesMasters/notesMaster1.xml" Id="Rb7149e2ab73148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415bdbf9494ffc" /><Relationship Type="http://schemas.openxmlformats.org/officeDocument/2006/relationships/notesMaster" Target="/ppt/notesMasters/notesMaster1.xml" Id="R76c2b5c67fd841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e43966e08d4ea0" /><Relationship Type="http://schemas.openxmlformats.org/officeDocument/2006/relationships/notesMaster" Target="/ppt/notesMasters/notesMaster1.xml" Id="Rfe090b3670e741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6b8a1c655f4efc" /><Relationship Type="http://schemas.openxmlformats.org/officeDocument/2006/relationships/notesMaster" Target="/ppt/notesMasters/notesMaster1.xml" Id="R8b395ee7035a45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9cf808ea044c27" /><Relationship Type="http://schemas.openxmlformats.org/officeDocument/2006/relationships/notesMaster" Target="/ppt/notesMasters/notesMaster1.xml" Id="Rdade8459a0ba4c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d721817c024c37" /><Relationship Type="http://schemas.openxmlformats.org/officeDocument/2006/relationships/notesMaster" Target="/ppt/notesMasters/notesMaster1.xml" Id="Rda4efaf80cae44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206bb942474497" /><Relationship Type="http://schemas.openxmlformats.org/officeDocument/2006/relationships/notesMaster" Target="/ppt/notesMasters/notesMaster1.xml" Id="Rc6afcbc9b60645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d9263e7f304861" /><Relationship Type="http://schemas.openxmlformats.org/officeDocument/2006/relationships/notesMaster" Target="/ppt/notesMasters/notesMaster1.xml" Id="R6fa4337ef0be40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07de9b974e4f90" /><Relationship Type="http://schemas.openxmlformats.org/officeDocument/2006/relationships/notesMaster" Target="/ppt/notesMasters/notesMaster1.xml" Id="R546799e0021846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f233004cf647ec" /><Relationship Type="http://schemas.openxmlformats.org/officeDocument/2006/relationships/notesMaster" Target="/ppt/notesMasters/notesMaster1.xml" Id="Rfce42f6ef3e349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c0978d1e234b2f" /><Relationship Type="http://schemas.openxmlformats.org/officeDocument/2006/relationships/notesMaster" Target="/ppt/notesMasters/notesMaster1.xml" Id="R02c5dc0e8c4048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cfacdbd66342b9" /><Relationship Type="http://schemas.openxmlformats.org/officeDocument/2006/relationships/notesMaster" Target="/ppt/notesMasters/notesMaster1.xml" Id="R4a762b7002fc4e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747b10eba64e4a" /><Relationship Type="http://schemas.openxmlformats.org/officeDocument/2006/relationships/notesMaster" Target="/ppt/notesMasters/notesMaster1.xml" Id="Redfea5df5c034c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efd06bc3984960" /><Relationship Type="http://schemas.openxmlformats.org/officeDocument/2006/relationships/notesMaster" Target="/ppt/notesMasters/notesMaster1.xml" Id="Rfa3fab08600e41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710d476fc94819" /><Relationship Type="http://schemas.openxmlformats.org/officeDocument/2006/relationships/notesMaster" Target="/ppt/notesMasters/notesMaster1.xml" Id="Red76db9ce09c4b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16c2165f774335" /><Relationship Type="http://schemas.openxmlformats.org/officeDocument/2006/relationships/notesMaster" Target="/ppt/notesMasters/notesMaster1.xml" Id="R22cfce0b576840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8215863f0548f9" /><Relationship Type="http://schemas.openxmlformats.org/officeDocument/2006/relationships/notesMaster" Target="/ppt/notesMasters/notesMaster1.xml" Id="Ra96a8892693147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5cd788081d46e2" /><Relationship Type="http://schemas.openxmlformats.org/officeDocument/2006/relationships/notesMaster" Target="/ppt/notesMasters/notesMaster1.xml" Id="Rd385783423e840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e4f9e1592a4ff4" /><Relationship Type="http://schemas.openxmlformats.org/officeDocument/2006/relationships/notesMaster" Target="/ppt/notesMasters/notesMaster1.xml" Id="Rfebb9f5d9a3945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b1d64b33c454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88a4355f6614319" /><Relationship Type="http://schemas.openxmlformats.org/officeDocument/2006/relationships/slideLayout" Target="/ppt/slideLayouts/slideLayout2.xml" Id="Rb31d91848dbc4c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1d91848dbc4c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7e38305ccd4454" /><Relationship Type="http://schemas.openxmlformats.org/officeDocument/2006/relationships/image" Target="/ppt/media/image.jpeg" Id="Rb06ebbd945054b02" /><Relationship Type="http://schemas.openxmlformats.org/officeDocument/2006/relationships/notesSlide" Target="/ppt/notesSlides/notesSlide1.xml" Id="Rc0d4fedd210344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ac63856e274239" /><Relationship Type="http://schemas.openxmlformats.org/officeDocument/2006/relationships/notesSlide" Target="/ppt/notesSlides/notesSlide2.xml" Id="R5383b09a0d674a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6819c49ff34f99" /><Relationship Type="http://schemas.openxmlformats.org/officeDocument/2006/relationships/notesSlide" Target="/ppt/notesSlides/notesSlide3.xml" Id="R1f737c912b8346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d081657dd24cb1" /><Relationship Type="http://schemas.openxmlformats.org/officeDocument/2006/relationships/notesSlide" Target="/ppt/notesSlides/notesSlide4.xml" Id="R0c4697fba33044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ade7b4acbb4923" /><Relationship Type="http://schemas.openxmlformats.org/officeDocument/2006/relationships/notesSlide" Target="/ppt/notesSlides/notesSlide5.xml" Id="Ra1fe0b1fed5a4a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a9481ed1664633" /><Relationship Type="http://schemas.openxmlformats.org/officeDocument/2006/relationships/notesSlide" Target="/ppt/notesSlides/notesSlide6.xml" Id="R64a970d41c1b46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7d7520ed3442e8" /><Relationship Type="http://schemas.openxmlformats.org/officeDocument/2006/relationships/notesSlide" Target="/ppt/notesSlides/notesSlide7.xml" Id="R70ba76d3d29845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3cf75b2fb14a09" /><Relationship Type="http://schemas.openxmlformats.org/officeDocument/2006/relationships/notesSlide" Target="/ppt/notesSlides/notesSlide8.xml" Id="R3d9c388c3df742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c21a4c811448b2" /><Relationship Type="http://schemas.openxmlformats.org/officeDocument/2006/relationships/notesSlide" Target="/ppt/notesSlides/notesSlide9.xml" Id="Rc093474118ea43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93783765b74387" /><Relationship Type="http://schemas.openxmlformats.org/officeDocument/2006/relationships/notesSlide" Target="/ppt/notesSlides/notesSlide10.xml" Id="Rb32b82ed22654f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cce688478e4e88" /><Relationship Type="http://schemas.openxmlformats.org/officeDocument/2006/relationships/notesSlide" Target="/ppt/notesSlides/notesSlide11.xml" Id="R9cb437afca744c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b14c6964c24244" /><Relationship Type="http://schemas.openxmlformats.org/officeDocument/2006/relationships/notesSlide" Target="/ppt/notesSlides/notesSlide12.xml" Id="Rb207b1da12d344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94865d87e64a3c" /><Relationship Type="http://schemas.openxmlformats.org/officeDocument/2006/relationships/notesSlide" Target="/ppt/notesSlides/notesSlide13.xml" Id="R7ad8546beeae4b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4aa7c48f9b464c" /><Relationship Type="http://schemas.openxmlformats.org/officeDocument/2006/relationships/image" Target="/ppt/media/image.png" Id="R808779910b9d462b" /><Relationship Type="http://schemas.openxmlformats.org/officeDocument/2006/relationships/notesSlide" Target="/ppt/notesSlides/notesSlide14.xml" Id="R300f5fdcee5146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7655e88244693" /><Relationship Type="http://schemas.openxmlformats.org/officeDocument/2006/relationships/notesSlide" Target="/ppt/notesSlides/notesSlide15.xml" Id="Rdb3bee9264a149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e6bd92441142d0" /><Relationship Type="http://schemas.openxmlformats.org/officeDocument/2006/relationships/notesSlide" Target="/ppt/notesSlides/notesSlide16.xml" Id="R40bcec76122b40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564f7e8ac34138" /><Relationship Type="http://schemas.openxmlformats.org/officeDocument/2006/relationships/notesSlide" Target="/ppt/notesSlides/notesSlide17.xml" Id="R253ec90a18f040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4e3d951d9f4656" /><Relationship Type="http://schemas.openxmlformats.org/officeDocument/2006/relationships/notesSlide" Target="/ppt/notesSlides/notesSlide18.xml" Id="Rb8f7a7dc8c6a44e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702d4a53634a7a" /><Relationship Type="http://schemas.openxmlformats.org/officeDocument/2006/relationships/notesSlide" Target="/ppt/notesSlides/notesSlide19.xml" Id="Rcfa3811492f6464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304aaa35be4c71" /><Relationship Type="http://schemas.openxmlformats.org/officeDocument/2006/relationships/notesSlide" Target="/ppt/notesSlides/notesSlide20.xml" Id="R03016a7d8f5d49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7F19E1-6AAA-4ACB-B874-9A83B8E3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ebbd945054b02"/>
          <a:srcRect xmlns:a="http://schemas.openxmlformats.org/drawingml/2006/main" l="4427" t="0" r="44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68235-5F3D-4C24-9474-019B44EB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5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B3AE0-F307-4AF2-99DA-83CA59BC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D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BD7FF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DCBD0-3D71-46ED-9E74-F8392C79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8572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Online Intercity Bus Ticket Booking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02705-1CB6-439D-8473-881B0735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638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F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8F5"/>
                </a:solidFill>
                <a:latin typeface="Aptos"/>
                <a:ea typeface="Aptos"/>
                <a:cs typeface="Aptos"/>
              </a:rPr>
              <a:t>Graduation project presentation - two Android apps, one Spring Boot web admin, centralized MySQL data, and VNPAY payment.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0F581-B3D1-4D18-8633-B57E91BB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A48E9-D4A1-49C0-8F63-78FFB3DB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4D266-76AE-4344-BED8-BD8C11E9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Đặng Tú Nguyên - 24IT181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CD13E-DDC1-4F17-953E-4D5F0668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Trần Anh Tân - 24IT237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049A3-3083-4239-BC9B-98BD258D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Supervisor: Dr. Phạm Nguyễn Minh Nhựt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9C23F-EF34-4A66-BBDE-3C272EB9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7E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7E8"/>
                </a:solidFill>
                <a:latin typeface="Aptos"/>
                <a:ea typeface="Aptos"/>
                <a:cs typeface="Aptos"/>
              </a:rPr>
              <a:t>Da Nang, 2026</a:t>
            </a:r>
          </a:p>
        </p:txBody>
      </p:sp>
    </p:spTree>
    <p:extLst>
      <p:ext uri="{BB962C8B-B14F-4D97-AF65-F5344CB8AC3E}">
        <p14:creationId xmlns:p14="http://schemas.microsoft.com/office/powerpoint/2010/main" val="16147882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ED36F3-562E-4EC6-90E7-44704390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63849485-0710-4F7C-9B0E-1547152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4FB6A-E0BB-4A39-8A35-2BE59AD6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D97CA-DB0F-4952-9599-F801B08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6E32B-02C7-4AB4-9528-F418FE9A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2D24C-2A3B-45CB-BEC3-1B821C4E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Presentation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84572-396A-45C4-B60E-669DA722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305A6-7390-4EEE-B676-8B5F42A5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690CA-A55B-4F9A-B766-7540260F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050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Project context and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37BB0-9640-4955-98CE-482FC043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A336D-B64C-4272-9717-7A8D698A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4A047-1C9D-4690-AE3C-00BCA607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50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Technology stack and 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309B2-5368-41E7-98D7-2BB1C1B1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FD0F0-FB6D-4F21-96BD-BBBB8A9F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E3611-C87C-4107-9BA6-CB734C7D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System requirements and actors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25F51-083D-43BB-848A-F2178F5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67075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3F0F1-E39F-4F5A-9C5C-1702E531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7662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B885A-C07A-40E7-82D3-11556B24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052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Design: database, use cases, and workflows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E2EDD-CC5A-4C85-988F-8D02E718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ACAEC-60CF-485D-8C44-BF23905F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94FEE-DBF7-4A00-98FC-0834DEAE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Implemented interfaces and results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AE49A-1B85-4EEE-9122-3008CFC8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672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21607-AA5C-4F47-88AB-AA64D7A9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0540A5-BE2C-4469-979B-14DA4075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053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Evaluation, future work, and conclusion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4136A-C6FD-4FF7-8E45-561BE75B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77722F-3535-49C5-BBD9-A18EB898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F2DC2-00EC-47BA-B557-1E624763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2/20</a:t>
            </a:r>
          </a:p>
        </p:txBody>
      </p:sp>
    </p:spTree>
    <p:extLst>
      <p:ext uri="{BB962C8B-B14F-4D97-AF65-F5344CB8AC3E}">
        <p14:creationId xmlns:p14="http://schemas.microsoft.com/office/powerpoint/2010/main" val="3503867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C867-B83F-4147-96A0-B642AE21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D099E356-C48C-4CA5-A854-AF027C78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85095-B2F3-4B05-A48A-0874DC57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D2919-6F5A-4DF1-81C3-800A322A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5A5A0-ECC5-4B26-B4AE-67760D9A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FC447-E230-4335-AB6B-CCE335F2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Manual booking leaves data fragmented across the journey.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A1211-502D-446D-B37E-115A648D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59ED8-5DD1-4BE2-B8F5-B23A6EEA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447BA-9265-4AAB-B700-5E9FA7EB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110BC-3E08-4B3D-A22E-F6F78173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955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Fragmented booking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2C1FC-BCBA-4A59-816A-2BFB7425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Manual booking makes it difficult to check routes, departure times, available seats, and passenger information in real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028CB-8DA2-4159-9406-F6D5614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B24A4-0374-4924-9ED1-1C83F677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3151D-E8D0-443F-A92D-02C3997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FD0D9-7884-4A4F-91B1-F50530F7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4955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Payment mismatch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89CB1-7E0F-42CC-9061-EC0CAED7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14650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Ticket status and payment status can become inconsistent when confirmation is handled outside a centralized backend.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B26B1-E13D-49F3-83D9-2E1FFCD4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2D72A-07D3-49D1-A9EC-56C2261E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13721-5B5E-459A-B0E4-BD3862A8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31BD6C-EDCD-405B-B8FE-9247D7ED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955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Operational blind spots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5C44A-93E2-44EB-9FB4-A673FFB7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14650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 staff need a fast way to verify tickets and track who has actually boarded each trip.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A8421-8D83-4842-BC33-2EB79437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6DFF3-EBA6-46A0-879D-1CD4E3D7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054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project digitalizes the full journey from published trips to passenger check-in.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6BD4E2-3654-4D7E-9AFE-AC6FF1EF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C228BD-F6BC-4EB9-9A1E-36202EC2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371E9-6DC9-4CF7-8FEA-82FE9F1A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3/20</a:t>
            </a:r>
          </a:p>
        </p:txBody>
      </p:sp>
    </p:spTree>
    <p:extLst>
      <p:ext uri="{BB962C8B-B14F-4D97-AF65-F5344CB8AC3E}">
        <p14:creationId xmlns:p14="http://schemas.microsoft.com/office/powerpoint/2010/main" val="1057533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B5FA64-4A3A-4DF5-AD07-3FA41061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182E2AC3-A870-45F2-9196-92F65335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D56B3-ED96-44E5-BC65-141C501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1E1F7-D34E-43C8-BCB3-7AC5D576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679CE-E221-44A4-8015-975F87FC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9984B-5654-4CFF-980B-8012367B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BusBooking centralizes booking, payment, and passenger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4500F-61C4-4FFC-8667-9475085C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38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41206-1351-457B-885D-3472E1C3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C4AAC-294E-4502-8070-D99ECC2D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Android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B379A-3252-43FF-AE8A-28096549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38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9CEFB-CF8B-4F91-9821-05B21D97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193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B98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B98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6AD61-28EC-4859-B7B0-D1D02841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Web admin + REST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4BCC9-00D3-4BBB-A6B6-89AF5ADD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38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CA2AD-1294-4477-9769-06A40AFD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193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274C9-A763-4AEE-B9C9-ACD6A21C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Core actors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97539-462B-4250-AE5F-A042803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238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E89FF-EA04-4A01-8309-35CA9F6C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193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B5E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CB5E0"/>
                </a:solidFill>
                <a:latin typeface="Aptos"/>
                <a:ea typeface="Aptos"/>
                <a:cs typeface="Aptos"/>
              </a:rPr>
              <a:t>VNPAY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1688F-388C-42E3-8E57-B02C4B6B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Payment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55DF0-3069-4B6F-8136-C42F1185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CA75D-821C-4CDC-B790-A86D22A4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 app: search trips, choose seats, book one-way or round-trip tickets, pay online, and view ticket QR.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45595-C31A-47BE-B464-9C7C8BC2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2E99E-6443-43EA-9AB8-2722DCFF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Staff app: view assigned trips, scan QR or enter ticket code, check in passengers, and inspect seat status.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0C12E-796E-4EB3-94CE-93B5369E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EE4A4-A8FA-4E22-B0A8-A6EE41A6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Web admin: manage users, staff, routes, buses, seats, trips, tickets, payments, and revenue reports.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DDA289-1D21-4179-A690-4C07EAE1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17B0BA-9CD0-4C02-B357-9ECF1E2B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F75860-1DFF-4271-90AF-49B0DE36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4/20</a:t>
            </a:r>
          </a:p>
        </p:txBody>
      </p:sp>
    </p:spTree>
    <p:extLst>
      <p:ext uri="{BB962C8B-B14F-4D97-AF65-F5344CB8AC3E}">
        <p14:creationId xmlns:p14="http://schemas.microsoft.com/office/powerpoint/2010/main" val="5350341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DC0AF0-4953-4E85-9B2F-A13EAB0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856EB6C-1787-47E3-9EC9-DDE707E8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9007D-BAE8-4C49-BD77-E4F77D77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675E4-8A04-4B5A-9A57-1C8CD35A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41AEE-FE0F-4D59-9E08-A83D3738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ACTORS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F28E1-42EE-40D4-8156-37D5E4E7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system now has four clear actors, including Staff.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B10EF-572E-49EF-A452-ECA84391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343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5924B-D398-4D73-B03F-91A7A2CD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2343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71BCA-13AD-4040-B6E8-6C34B403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A4704-0BDF-4156-BC6C-D7E1A57A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6227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C6B38-ABFF-4B28-A2EE-9F09A086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16538-2CE5-4DE7-972C-198E20FD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Search, book, pay, and present ticket QR.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A75FE-A839-49FC-BAEB-49C6693D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2343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9DE69-D5AE-460E-A079-D1100C53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2343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A703F-1683-4345-9CB3-676C0CC1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00F9E-553A-4CAA-93A7-694F0540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6227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21C15-F365-4D45-B761-D4D36C0F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004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Staff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87EB7-2A7A-4D31-B794-5B1528F3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433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Verify tickets, check passengers in, and monitor assigned trips.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7E69D-0B4D-4E9D-AA40-406DDF08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2343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7864A-376F-4F55-9239-81A9688A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2343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E5B01-DD63-4ADF-AA23-DCFD5FD9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432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36462-66EC-43E9-BF5D-C5C6E83D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6227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3B6F2-7D30-436A-AE45-BA74FC37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8D3C7-616F-455D-B89A-7F0475B7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Manage master data, staff accounts, payments, and reports.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E7185-98E5-43C5-AB2B-A401CBD4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24100"/>
            <a:ext cx="2343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5CF9F-6BE9-4AD2-9A29-6F7667E4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24100"/>
            <a:ext cx="2343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7BF18F-5083-40B6-A7F8-427FCDDE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432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7E943-5A11-424A-AB13-668B3522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6227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A4E6AC-B2D8-47F5-BC1C-03105B11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004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VNPAY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D9B113-0D4E-4658-921B-FE3561D7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433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External payment gateway that returns transaction results.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E40687-DD44-45D2-BF4D-C4721B7A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00650"/>
            <a:ext cx="7200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F6BE3D-AE8A-465A-A912-A7194BF8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76850"/>
            <a:ext cx="697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Staff is a dedicated actor. The CARRIER role is removed from the final system model.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7F0EC4-E614-40BC-AD73-B4321662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E4AD7F-B0D0-4E6E-9EF5-C725E5F0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7AFF51-5175-4580-9CD2-43DB3788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5/20</a:t>
            </a:r>
          </a:p>
        </p:txBody>
      </p:sp>
    </p:spTree>
    <p:extLst>
      <p:ext uri="{BB962C8B-B14F-4D97-AF65-F5344CB8AC3E}">
        <p14:creationId xmlns:p14="http://schemas.microsoft.com/office/powerpoint/2010/main" val="9623120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E24F2-2C79-4715-89AE-C6C6E2A1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1AF3F048-6F06-4278-B665-C9D0EC1F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DC605-F581-459F-BE8A-6393006A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6D709-F352-4D59-BBE7-FE8D4C59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B4EF0-193B-46B3-9A42-AACEA2AD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6223E-9DD7-43F8-97FB-E242FB37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two-app, one-web architecture keeps operations separated.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54E1E-247D-4FF8-9246-3657F923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DED9A-31C2-45DB-8745-B4EB6080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9794D-1227-4CF9-BA74-35A2BABD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5F2DE-884F-4754-959D-BBBF5F36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4019C-0099-4994-83B9-25C594D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962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Android Studio, Kotlin, XML layouts, ViewBinding, MVVM-style ViewModels, REST API client.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0B33A-8E45-42CE-A1FB-98D97032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0638A-8F17-45F3-851A-6B7395ED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22E17-DA66-44B5-AB33-4572D0CB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7BB10-6730-41EE-891C-C88C1688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Staff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B516E-A664-4FA5-93C1-A251C551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00350"/>
            <a:ext cx="1962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Separate Android module for staff login, assigned trips, QR scanning, passenger check-in, and seat map.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6FF8C-0612-449C-AB29-A2A60F83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36C56-D81B-4A59-90B2-1FA3F719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8B579-AF7B-4B9B-923D-0414033C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4834A-369A-41F3-BAFF-5C1DD08D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Web 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938FB-74EE-4857-A323-AA4764BB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1962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Java 21, Spring Boot 3.3.5, Thymeleaf, Spring Security, embedded Tomcat, VNPAY endpoints.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A31FD-DA6F-48D7-B98B-D32D83AF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A6120-864E-41C9-A6BD-F7DF6DCB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CA462-0B11-4088-ADAF-3883AAF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B134F0-D8BE-4D7C-8A9D-F2E08EF9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24F596-9B9B-4351-A57A-A103FDC8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1962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MySQL through XAMPP. Tables cover users, staff, buses, trips, seats, tickets, payments, and check-ins.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DAB86C-422F-4776-8E8D-26DA4A01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67AB8A-0879-4FC9-B6BE-6503BAC4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CBB5F-0355-4874-9D3D-D34ADABB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6/20</a:t>
            </a:r>
          </a:p>
        </p:txBody>
      </p:sp>
    </p:spTree>
    <p:extLst>
      <p:ext uri="{BB962C8B-B14F-4D97-AF65-F5344CB8AC3E}">
        <p14:creationId xmlns:p14="http://schemas.microsoft.com/office/powerpoint/2010/main" val="4088467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0CB567-BD29-4B26-84F9-441514F0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7F637E29-0B82-42B3-A09D-E45445A8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5B1E7-8BEA-4378-9750-0D7B67B6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660ED-A50B-4207-A48D-F5239E07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A25A1-3A20-4486-A27D-C416B0DA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C2048-B4DB-4984-837B-CFA1549B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Spring Boot and MySQL act as the single source of truth.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94B00-908F-42CE-84F4-2F388664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A21B9-7298-4184-8C40-D673554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7F673-6AAA-4E8D-9E79-FC6E3AFE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1323F-CA73-432F-B742-77E34F61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3224B-9C89-4FC4-9C0E-5C4921A9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Search, booking, payment, ticket QR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7478F-E79F-4A72-80DF-D9651C0F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47365-125F-46A6-891A-7846BB54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F88B8-881C-40F6-A3EC-5AEC64EA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691D1-872B-4D3C-95C2-7881BB85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Staff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C3004-4BCF-4343-9F8E-0E04FC2F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Trip assignment, QR scan, check-in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C47F4-58D4-4237-93E8-D2D12BB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1F740-8C8C-4A81-A1AE-4A9FABA4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9835A-8490-423B-9F33-7C51DB8F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337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0AA6A-EF56-405E-80F8-A6A65283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052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Spring Boot 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7D83F-218C-40E8-AD0A-A95B5F1D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REST API, validation, security, VNPAY callback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54DCA-6386-410A-BA14-4FD82A73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BEE15-5EAB-4B09-9E54-682400EC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D3200-DB88-44E7-A3B1-301C1D2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28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18974-552F-463F-856D-8E51D4B2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3808E-CA30-459C-8EFC-A15E203C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Centralized operational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4227C-F035-4391-9306-334F9B20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380DA-8A00-453A-A7F5-75320FDF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04B934-28AF-4051-AE0B-CD71BB5A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338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E8079C-CB9E-453E-B853-E9C55AA6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053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VNPAY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3116F1-DC5B-413E-9DB7-6B721788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Payment page and result callback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493B14-A61D-4EEA-B688-D324EE6A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530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1D3EFD-6743-4C94-A1CA-F2B65859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530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2D799A-59F1-48B5-9F3D-A402922C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 Admin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5D62E7-0AEB-4001-BDE7-D80F1292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816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163F97-0BDC-4881-B73D-C9ABD3E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578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Thymeleaf UI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582E69-6506-45DA-A38A-5892B8AC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817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43508F-C118-4513-8063-27186744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057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Runs on embedded Tomcat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FBCB55-A5B4-442F-9003-077C2E54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76575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C06C61-C351-466D-90B8-CD230FF1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297047-326B-4EF5-8CC3-327ABF63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81525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3467F6-CF85-4743-A875-8918EAA8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C8507F-3912-4EBD-8A57-1F471432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81425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790FCD-2595-4BC4-975F-3DC6E209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700230-8A20-4D4E-84AC-FAA2D16A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81425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0DD034-9E5D-49D5-BD74-D899BEF6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590FEE-547E-4E51-AE69-E13ECDE5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4EF431-4912-4DA2-8059-F21E4E03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7695AE-3A81-45BC-8C6D-4A713706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7/20</a:t>
            </a:r>
          </a:p>
        </p:txBody>
      </p:sp>
    </p:spTree>
    <p:extLst>
      <p:ext uri="{BB962C8B-B14F-4D97-AF65-F5344CB8AC3E}">
        <p14:creationId xmlns:p14="http://schemas.microsoft.com/office/powerpoint/2010/main" val="19458408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B70D6-CBBB-4304-8549-9F84BAE9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659C0F0A-F5E8-4237-B3D3-6C8FF7DE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815FF-04AF-4F8A-A955-B5F7AE78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BC3B9-26F4-44A1-8330-903BC048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47787-2026-4774-A248-BF69D634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9C431-A482-4FB4-9D0E-4923D331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database supports booking, payment, seat, and check-in states.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A0FAF-5D53-41BB-83DF-4F894D3C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01568-7195-4A0B-A17A-C9B13E3F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31D0B-07A6-4F2D-828B-9B22A6B1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D294B-8903-4463-A59D-D1992CFA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3E98A-DA59-4FB4-A5A1-E5B53715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384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476A1-6CBA-4EAD-BE70-7B402510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67B8B-C9E6-4845-91A3-67738000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staff_profiles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423E6-6723-43C9-8C20-CA7EB898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62176-7FD0-42D0-BDAD-EE3515EB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385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bus_companies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D7497-E552-4750-89A9-F4603486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0469B-2457-4CC2-BBC6-086EEC1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BE5A8-EE17-47BF-8FCF-87C461BC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288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BB040-7838-4709-9242-900EDEB4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71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7ACCC-BD25-457D-BE49-EF137A51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384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routes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1B90A-D269-471A-AC5F-03224531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660CE-D12B-40E2-B4D4-1C05E4E7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385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90E95-BF11-4799-B6D3-B530AE21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719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DA6AF-E299-4A51-B6C4-547DD16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385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seats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46743-26CD-407A-9DF5-5F11C5F3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ECAFD-6AAA-445D-A60A-131FA7B7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386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trips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B5A387-772B-4DA2-A19E-11239E15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720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2C6E57-D900-4398-B5F5-9E4213E4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386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trip_staff_assignments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0D9A5-69E6-43E5-B674-2457C73C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0688FB-4A6C-471B-9C60-8E734EB8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404A9A-9F68-4BCB-A7DF-D42D4C10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288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Booking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07CE97-4B2E-4637-8EE5-8C949AD6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796581-CEB7-4CE6-BC3C-637A5A5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tickets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081B68-48EB-49FB-9496-543F4A63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18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806F07-7FAB-4035-A5FD-DE450557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trip_seats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79FD5F-2BC6-44BC-A746-4869FC94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46B43E-A003-4279-A9D6-4DAAEAC1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385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bookings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C30542-CCFA-4C7E-B05F-75B8AC94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7E6DB1-EE58-4874-8152-38C39231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386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booking_tickets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38CB5B-9B2C-46BD-83CF-DB3A647B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050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8DAF3C-B263-4B18-86AE-56B8196D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050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76D9A3-D76D-4300-8D00-CAD43A54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288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Payment &amp; control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788DF5-38C7-4804-A448-A085186F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71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44D2A1-D0F7-47D2-92F1-D572F734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384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payments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D0784D-2EF3-4BA3-8BBD-BA11D55F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05FDCD-2D43-4F96-924E-E5C85DF6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385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payment_items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CFB1DD-3378-4020-A189-B7C1C945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719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7EEF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5C6AF5-B372-43B0-A0A6-F73DC10D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385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ticket_checkins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515A64-0D67-4399-B36A-714C1077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6E7CBB-F20F-4E53-AE8C-0C6DF441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197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Ticket QR is generated from ticket status; VNPAY QR belongs to payment records.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50C923-893E-4028-B754-876F3DFB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5539B5-30A0-4069-9629-89F6399A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585805-9288-4FED-8CB7-01138EEE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8/20</a:t>
            </a:r>
          </a:p>
        </p:txBody>
      </p:sp>
    </p:spTree>
    <p:extLst>
      <p:ext uri="{BB962C8B-B14F-4D97-AF65-F5344CB8AC3E}">
        <p14:creationId xmlns:p14="http://schemas.microsoft.com/office/powerpoint/2010/main" val="158296023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2D79DB-DE3F-4C02-A614-53C72788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877BF082-542A-48DD-A14B-2CE6201B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B5AF2-7791-41B3-88FA-AAAC55FD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C92A9-171A-402A-8EA5-83A42B7D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B4333-E9EC-402C-899B-5E78C041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USE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58238-81B4-4BC2-97D9-CC51801B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cases are grouped by real operational responsibility.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074E0-1516-493D-A6EE-0DB332B5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314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E291A-88E6-4CE1-93DA-4593341E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8B422-C5D5-4C24-ADAB-A96BD2C3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F203E-D128-451F-9E30-E5824DF5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28F47-9B83-453C-872B-729A6455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Register / log 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829A4-39C1-4A9F-99BD-FD5A421D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A107A-CBCE-4240-B833-7A958F19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Search trips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019C5-579D-449F-8C3A-6A0D4F86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FAE75-F61F-4A1A-B48C-BD7D1699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Choose seats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E3E41-5E5E-4E12-8711-2AE65604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2604B-B9E9-464B-A418-443767FA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Book one-way / round-trip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72041-826D-4B02-80DE-6FC667C7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FD808-E9FD-4AE5-9CFB-98163B3C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76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Pay with VNPAY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66A53-8DCF-4008-92AF-499DC4AF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4CE90-3507-4C87-A3BE-7D4A917F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57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View tickets and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67F67-6E8D-4BB4-A1E7-4C679C72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314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D4FD05-EBA0-4E8F-95FB-D341F4CA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5A284-6F9C-446B-A250-9C1CED7E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D753E-F7C0-42C9-893B-4852383E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A20CD5-F2E8-4E96-B2C9-D822084E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Log in with admin-issued email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784381-C4FC-4A99-A8C4-DD3A79A6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0A231-C53C-4EE4-AFDB-1CEAEA5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33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View assigned trips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1AE8B6-9D4D-4730-9A29-3B2F6D8A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7AC20-0BB0-4054-B5A3-1A44A9EB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14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View passengers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807F88-BBAC-4954-B0F0-69E398E0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B57E71-D0F0-4FBD-9D09-A7C50F0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Scan QR or enter ticket code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981142-EED3-429B-BCF9-D7D4C91C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B56856-B294-438F-9A61-7C606146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76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Confirm passenger boarding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24A1F3-B777-4C94-AF40-AC4A3DA4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314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E8C551-2F6D-4F89-881E-84AD4FCC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EFC2C8-A840-4DA4-97C3-FC63E79E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5D16D8-0880-4580-8FBC-420F9797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2FF799-24BC-457A-A8F7-09C340AA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52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Manage USER accounts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BB6567-4A47-4248-B9DB-621D5166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6577E4-1667-439C-B65D-F97F9654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staff accounts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948B9B-783E-4EFB-A2E3-EF30046A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3B7A56-2FB9-44BC-BE75-3932FFE2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14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Manage routes, buses, seats, trips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7E79E2-DB89-4E35-B6C2-B5D21CA7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696F41-0320-421C-9FAB-D723A8F0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Monitor tickets and payments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5F8210-8D05-41B9-9915-8B9E4D9C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B305FE-BDD4-4555-BA32-FF51591D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View revenue statistics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A4B8E0-17EB-40BB-ACA7-E6EF8514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C8155F-8D55-4A8C-B872-DCFEB2E5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0268D7-C1C7-46AE-B1C6-D4C1AA3D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9/20</a:t>
            </a:r>
          </a:p>
        </p:txBody>
      </p:sp>
    </p:spTree>
    <p:extLst>
      <p:ext uri="{BB962C8B-B14F-4D97-AF65-F5344CB8AC3E}">
        <p14:creationId xmlns:p14="http://schemas.microsoft.com/office/powerpoint/2010/main" val="15812228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49F5F-89ED-4232-8299-270AE27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B0ED90B8-1039-489D-9396-9D8700E8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EDD97-3645-4E16-B098-588AAEB1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D6C7E-2D31-4F51-8B04-E48947E2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4055B-3FED-452C-83EF-0086D259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USER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3F1AD-E592-4B79-ADC3-806E8D9A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USER flow moves from search to ticket QR.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A41F7-B5C2-44BD-85FA-35C299BF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93DDF-7DF6-4E32-95FB-D0ED8C90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E5755-AC9C-416C-A111-50ABB397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2AECC-A327-4C82-B3DF-89145819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8EB07-359A-49FB-AA61-55A9BAD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Origin, destination, 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66165-C8A1-40E1-AA17-809FEB3C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670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01018-863A-4C99-9319-FB479005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A0F93-C44F-46B7-9648-D9A86DAC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8AA7C-BE00-4E83-B7AF-52F4942F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1B7C3-C313-404E-9710-6B26208F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19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460AD-C993-4AAB-BC2F-A35ECD59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90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Select seat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8FC84-C63C-4A8E-A1CD-279D1A24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33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Seat map and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EF4DC-BA5F-41F9-92A9-95E6132F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670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AFA20-AA68-457D-8146-23AA03EF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E2713-9F02-48EB-B53D-37131416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B2245-55B6-46D4-A62F-78C7E09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D431D-8D40-4419-8A4B-CF23D9E0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19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B699B-60F0-4804-BBA7-418C7C00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90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Book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F7DAE-F210-48EE-9B44-8FA46F0F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33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Create pending ticket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BB3166-F17A-4E4D-9824-C52B76F4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670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35ACA-A6B8-4FEB-A071-A24CAA0D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E4EFCD-EA19-4C95-8E02-35CC03CF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25EFB0-EB7D-4023-AA11-AAD18C8B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813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9068F8-07F4-4147-8F26-BF54016D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19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1D672-1149-446A-9DB1-DF7D874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03E0A4-8D34-47AE-8938-734AC286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VNPAY URL or QR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BF517E-8C78-421D-8199-CEBF1EFD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670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1FEDC8-079A-498A-83EB-DF0D96E0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38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F4B2E5-668E-4288-A8F6-98C55576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01BF8E-BD5B-4848-950E-67EA51F1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4255D6-1B36-4B43-8AC4-D104AFAF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19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0F8FE8-A040-4468-927B-D94A67B5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90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ticket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7A05AF-6E06-44F9-9658-53B83156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337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Show ticket QR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95330D-71D8-48CD-B426-F91434C9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217687-DEEF-4673-99CB-7CE3B6DE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C186BA-80DD-4DAE-A086-CA883CE3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D8F0F4-11C7-448D-B5A0-1C79673A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1676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My Ticket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8C74A9-1C43-4EAD-9A66-72788E33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43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DF2F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6854AD-FD0A-4ADB-91CC-4380EB90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3880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Confirmed ticket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0F525A-FE0B-43A7-9B39-EFFCE113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38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EDF2F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5CF2D7-D75B-4E99-9F04-B971F807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3410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QR for staff scan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753255-AD5C-4B6B-9D30-753ADD5B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638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User App never connects directly to MySQL. It receives trip, seat, payment, and ticket data through Spring Boot REST APIs.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AF336A-B991-4855-9977-E920688B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BA3559-79C7-4A59-AFB3-5E1A5DB9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6A8790-2E09-498E-9E5B-74AAA072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10/20</a:t>
            </a:r>
          </a:p>
        </p:txBody>
      </p:sp>
    </p:spTree>
    <p:extLst>
      <p:ext uri="{BB962C8B-B14F-4D97-AF65-F5344CB8AC3E}">
        <p14:creationId xmlns:p14="http://schemas.microsoft.com/office/powerpoint/2010/main" val="3162826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0C051E-92EB-40A5-BFA0-D9A293B9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54EE47BA-969B-478E-B643-D3158991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BF484-32F7-410E-9574-6D0D3D9F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A7BC3-E5A2-47E1-AA5D-7F27AD1F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C4BB5-B0AC-4A04-A437-7F1FA4A4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STAFF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AE393-5162-4D0A-85DA-E4030705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staff flow turns QR scanning into passenger check-in.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C9B2D-C8C3-4A8C-A792-08ECCB7B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114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7D5E5-7E84-4D8C-AE04-15A3E9AC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C947A-081D-4827-B153-12DD8FB7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C949E-E853-4528-AFC2-A83712FD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54B5B-20CD-4164-BA58-9037E9A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Gmail account issued by 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715A8-5C44-49C8-A795-48B5D17C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2114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510D1-2712-4AF3-81AB-61734B3B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46576-CF4F-4D5E-A084-5A101EC3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622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B871E-B1F8-40A6-ABD3-76D89387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33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Assigned trips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2D36A-0796-4108-BBC1-F701C6E1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766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Only trips mapped to staff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B81C6-18BF-45F9-9C60-B9D92B69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24150"/>
            <a:ext cx="2114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C1E28-128D-4F18-8BF5-81A2231B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241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7171E-998E-48EE-887A-B9105A86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622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81340-BCDD-48CD-A7EC-06BA7BD5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Verify ticket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D33AC-BC58-4E82-8183-15915A65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766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Scan QR or enter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5D46B-3C58-440E-BD6F-0533936A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114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88E52-13CE-4768-9285-D3327F68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F0BE1-EB41-4977-9511-12EEB1ED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622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ED00F0-2A61-49D3-8ABE-078F2ED3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337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Check 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83F26-3276-4A02-B4AF-58494667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Update ticket and seat 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55F08-E3EA-44EE-A7A9-E347ADF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099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7952D3-0556-4DFB-ACF9-E7EDAF1B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47779-4030-41AB-9F17-B70DE752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099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4CC5D1-CE2F-4BE2-8522-D03B503F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3D25CC-C61A-4B90-B64F-9F03F8AF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99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FA99C-10DB-4A42-A6D5-CBCF91D4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F8E4F2-34AE-423E-9CA7-EACFAE7A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9505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3BD893-333D-4F91-ABED-0F6B63AC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After check-in, the seat map changes the passenger seat from booked to checked-in. The staff can tap the dark seat to review passenger and ticket details.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A509AF-1B78-4C30-BE57-9CD68D9E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EAC7ED-B877-4DC1-B28B-5B62F04B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C51930-3033-4A72-A755-683DEA3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13583954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94F6CA-1851-4453-8917-F955826C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AD6EC941-DE0A-45FA-BA25-D74654DE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CDF15-5379-4AF3-8ABF-6264BBD7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A6705-0E97-4CCC-8DDF-718F4767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8903C-1E53-4AB6-B7A9-43879CB5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ADMIN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29AB7-8CB3-4EC4-B395-558F4DB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admin flow manages the whole transport operation.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C854B-1D12-4375-8EC9-3DAD872A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97379-A854-4365-B124-F20993A0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66CB3-BAFA-4B0A-B506-15C2FC11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7BDB3-3701-4D6C-BC55-E164760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575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master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7F235-B878-47D9-9617-5F044CB0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79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Routes, buses, seats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EA550-59C3-43ED-8BF4-1940A3EF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F768C-4CD9-4BEF-889C-B470C121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69E40-D26B-43C4-8990-F6B7652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C2B6E-7F74-4C74-8872-994F1588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 trip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12F62-BFFD-46E1-805F-FAF5BD5C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179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Route, bus, time, price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E8A6B-FBD7-42D3-9228-44E73E13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53414-87A0-4CB8-AA89-00CCEFD7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0CDE6-DF89-42C1-9E4A-DD1FC3E6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D3D07-0554-4B4E-A7A3-F945779F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Assign staff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6F6BF-C66F-498A-A850-2559C21A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29000"/>
            <a:ext cx="179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Available staff combo 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CA5D3-609C-4AB5-905A-F8A369AF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B060CB-1DEC-42C4-A5C9-6C4F2A67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8ABB96-E3AF-40FB-9F8F-EF77DDFB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F5FA3B-3E14-4EDB-ACB4-F2E43698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575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Monitor sales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DCA2B1-969C-4D2D-A274-34B58184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179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Tickets, payments, revenue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A0F35E-EAA9-4115-B777-A04A3A90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9E231-F9D1-46CE-8340-CA3471AD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628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5A01E3-24A4-4CAF-ADAC-915BB241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48250"/>
            <a:ext cx="594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Trip edit screen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3A1301-9FE0-45E6-AB4B-AC0A2D72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43550"/>
            <a:ext cx="594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F7B4C1-A737-4E6A-9CE7-A5768454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571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Left: trip data form | Right: seat layout preview | Staff selector included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8D81D9-1035-4D0A-A737-36B1757A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C2F7F3-EE6D-4C53-9776-C9C80FFB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95B0AD-6CA2-450B-95DE-7495C56E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91011248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150BBF-FA89-4578-AF35-77C57AC6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58953FC3-C456-43A5-AF17-12423CFE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EE89F-AB94-45AA-8DA2-AC4EAFD5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845D3-21B8-48B9-9E1B-2C50CE02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47303-25CB-4F70-B2BA-F236ED9D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PAYMENT AND QR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85D32-F9E7-41BA-BF05-EBD7747C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Payment confirmation creates valid tickets and QR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5AA96-643C-429B-A849-DCC20E79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C3FD9-A61E-4138-9A91-ED77D51F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ED6A2-6E00-47B4-8D70-5291BDEC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706B7-1777-477D-BD01-4581D013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384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Pending ticket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BD95D-798C-42C5-BA7E-710CEEFD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Ticket is created before 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15528-F0B6-4CC9-83C1-3B6206D3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A5240-0B3D-4602-A208-7E04B8DB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F900A-7A6A-4D7D-A0B5-527C2B3C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670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5B283-E003-4D6F-95E3-824BDC91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384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VNPAY payment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9E1BF-1DC8-44FD-9683-DD30F5A8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Backend signs URL and QR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9255A-82AB-4E27-8C32-25E6D7B6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52962D-AF1E-40B7-A3A4-23D09026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760AE-41AB-494F-9D1D-478C3112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670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83AEA-9268-49D0-AD97-64DDA2E0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67C10-DC49-43D4-87B4-05EC18E3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813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Checksum and amount verified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06A19-01D9-40C3-BD4E-B257C52B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AE68C-509C-421B-9A05-D93DF55C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FEEB42-0427-4A3D-88E4-85732F0E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670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5361A-23F7-4E06-9280-0ECBE7EB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384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Confirmed ticket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42A2C-0771-4E71-A08B-11280966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813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Ticket QR becomes visible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DF10B7-3AA8-4CBA-A10B-B8C471A1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146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CA96E-4D9C-4854-9CEA-2B0864B8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E75202-2719-4C76-9FC8-C62837FF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6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30DB71-1F4F-4183-A01B-60EA5321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6825BA-204D-48A2-8492-9A8E7064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146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EC3ED6-5768-4F75-951C-ED3DC5E6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C29F0C-596B-4C3C-8250-00641E9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9677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4E5E03-536A-4CE7-9E71-D87BBDD2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3395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Important distinction: VNPAY QR is used for payment; ticket QR is generated after successful payment for staff verification.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445867-E059-4A20-BAA2-D880545F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C16E18-7F1D-481D-ACC4-975605B9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EC426C-F7AD-4FE6-9CC4-7B1CE83E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13/20</a:t>
            </a:r>
          </a:p>
        </p:txBody>
      </p:sp>
    </p:spTree>
    <p:extLst>
      <p:ext uri="{BB962C8B-B14F-4D97-AF65-F5344CB8AC3E}">
        <p14:creationId xmlns:p14="http://schemas.microsoft.com/office/powerpoint/2010/main" val="16008436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B6CAB-103D-4E87-9367-544F03C9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DC1D9EB0-B28F-4D6D-85CD-3C2281F9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2567B-0764-4A74-B4CB-C63047B4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E22FB-A842-43E4-A808-BCCFF1EC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52EB3-40BD-452C-A6C7-CC68065B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USER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CFC37-BB23-425D-8244-2372EE78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User app interfaces cover the full booking journey.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515B6-0A23-4812-B917-27E99AC8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45A79-3533-4E8C-8D3A-8930EFA7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81797-98A9-49B3-88E5-394CB1CD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710E7-986A-446D-B7C9-F342D90F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8D11E-068E-4EBF-B5C8-0CFF8A7E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Route 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88290-A2FD-41FE-9306-130C372E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38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56BAD-BEFE-4573-9A58-99DD1661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Trip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C0798-A84C-4364-ABCE-631C116E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EF093-9953-47AE-90C6-804319D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Upcoming trips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40129-48CC-42B1-9DC5-F6DAED31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4D7B0-BC96-4F2F-890C-22DE64AD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65D5B-AC23-45E3-A4AB-99C674C0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9552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Trip 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7526F-0410-46EB-A5BB-47F9CD73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52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FF385-96C2-47B9-858B-D055125E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Departure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9214C-FB68-4D7A-A9C3-ED074836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38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CA6CB-0ED3-4E21-9AE1-82E5A991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908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Bus plate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55F5F8-2AEF-4709-9A8B-02B0FFA2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24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838BC-2B01-4E7E-B8E9-7E74A775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766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Available seats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94F788-78AF-43CA-8964-4BEDF21A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F4D22-FD1B-4447-AF85-D2563411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C1EA-2FA8-42DF-9EC0-96168135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9552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Seat Selection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905E2-172F-4A1B-9CFF-91DDD200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52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7462B1-AEEB-499F-9790-9C30DD42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051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Available / booked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05EB4A-89F3-4410-908D-FEE1BA0F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EDC0B1-74F2-42C7-A07A-324F54B8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908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Total fare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ACAEFA-D5A9-4BC7-856E-A1226294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24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51E595-EEDE-485B-BDB4-75D884E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Confirm booking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DCA0F5-2075-4C27-970A-C1D43672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D5E74E-7348-4D9E-B227-1A533019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3D7236-71FB-4539-8818-DA8C2B5C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9552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Ticket Detail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6EF675-6AE0-4ADF-B50B-940611E4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52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D1A0C6-B6A2-4EFB-963F-F2D6958B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051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Payment status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191B18-7943-4DEA-A8D0-5A6D3769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38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E60750-0B8D-4AF5-BF17-D0DC925E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908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Seat number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0816F9-06FE-4984-AD7D-17E69E55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24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45FF02-F75E-4332-A472-D0F9B202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766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Ticket QR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779910b9d462b"/>
          <a:stretch xmlns:a="http://schemas.openxmlformats.org/drawingml/2006/main"/>
        </p:blipFill>
        <p:spPr>
          <a:xfrm xmlns:a="http://schemas.openxmlformats.org/drawingml/2006/main">
            <a:off x="9103519" y="5143500"/>
            <a:ext cx="557213" cy="12382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98BB71-1495-4F1A-823B-52EEE033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054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Login screen captured from the current mobile app.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B561AC-1C21-4927-AC60-C3724E45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068EFC-3965-4C3E-BE60-D694676B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9F2B1E-322A-47FF-BBE8-EFD1BE52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14/20</a:t>
            </a:r>
          </a:p>
        </p:txBody>
      </p:sp>
    </p:spTree>
    <p:extLst>
      <p:ext uri="{BB962C8B-B14F-4D97-AF65-F5344CB8AC3E}">
        <p14:creationId xmlns:p14="http://schemas.microsoft.com/office/powerpoint/2010/main" val="151730262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0F817-7D74-43C1-995C-F28CD37F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E001A4E8-5542-4930-BC2F-864737F1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A3608-94C6-4479-AB46-0A7FCED7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490C3-72DF-4945-970F-998F493D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34370-9A10-4B29-935E-3CF9E11A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STAFF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22848-141C-4134-87F6-3171E834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Staff app interfaces focus on fast station and onboard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67B57-823A-4B6B-8A4B-C46B89CB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381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71BAA-130C-4461-BC88-C4309690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E6715-630E-4135-80FD-DC2DFAEA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Staff 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FC226-795F-4639-8658-7B15591B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120CA-BFDE-4444-A541-D422524C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Staff 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FEED2-5A9D-4D0A-A47C-224B376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9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43F46-FD0C-4B05-BE00-F0BC0547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Assigned trips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DE6B8-AD46-4A64-88E9-986848B3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3E58E-A204-4DE9-858D-ACFECB95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Checked-in 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A5E64-420D-4977-A7A1-FEC32DA4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499ED-F643-481C-A05B-147EA516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83513-22B2-4F73-BF62-F86DDBAF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7647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Trip Detail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E8EE7-A2C9-44AC-B5C6-4F2F92B4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33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E2DFB-F96C-4355-AB80-C6C8E4D6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860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Route and bus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E6BDA-5543-4604-B376-85CE640E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19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32E33-19DF-430A-A228-DF3EF253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718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Passenger 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BCE6D-600A-4440-8575-93B73FA0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05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C2F2F-9E48-4BA6-9607-820D76A7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575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Seat 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9F326-9715-4E62-BD12-BE256656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2381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18BC4-ED62-43E0-86C3-F5B847B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12E0F-AAD9-4A85-BE26-D10FC2E9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7647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QR Scanner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0B210-10BF-427E-8EFD-896B0D5C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33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823150-9B65-42F8-8BBE-28285E6F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Open camera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0A83E3-CB02-459B-BDD9-DAC7CCF2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19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E8180D-EC29-44F9-8BD0-5C8115F1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Manual ticket code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EB519-EB1D-410D-9856-F805B140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A74B53-8AF7-4D92-AEA9-08557A6D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575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Verify 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13C0F6-F76B-4080-AE7F-E96831CA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381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C02B8B-9536-4A89-A311-3CA97CC8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79E377-D166-4B5F-8F98-0F1B743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7647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Check-in Result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07CF29-C97A-4E36-AEF2-EFBFFA1F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33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C66C7B-873D-4875-9145-B6890355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Passenger info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F6BEB4-71B3-4FF1-BE9F-C0E88079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19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06EC02-F0B6-4DC4-8D04-43B8E862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Payment state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E24CB6-17F8-42ED-AA50-9CB984C9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05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6F33E5-21DA-4910-A2EE-46C2FEBB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1981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Confirm boarding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0333E4-3F15-4DBC-9623-ED92FC8A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02B924-B735-469E-B59A-AFFDE0D8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007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FEB65B-0EE7-4114-82C0-6318B0E4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007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105179-3B65-4474-B8D1-4E9224B3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76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Seat colors: available, booked, checked-in passenger.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39CC8B-34C5-4F8C-8859-CD6B7E6E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83E528-A5AE-4677-B9BB-10363907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E0DE64-28BB-497F-A557-F80E7719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185829576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9D86AA-6529-4396-B5BD-9F68E822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7B42C22D-6B0C-4742-A0B3-1951F272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DCE57-4E6C-4AFF-9869-DFDABE15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EA853-C77D-4C9E-B581-9F64A494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7F876-FCEC-4531-80AF-7B3DC805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WEB ADMIN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D99E6-5166-4FED-882E-E5EE0440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Web admin interfaces control trips, seats, staff, and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F25E1-C907-40F7-86B9-F3524ABC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333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5FE94-209E-4F34-AC1E-A7BBE135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C6217-6760-4AFE-86DF-604FA312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EFF63-34D0-42BA-981B-F7AC9C89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A8E12-A3B7-4209-B57D-87349C50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239DE-1A4F-4B92-B3D1-2C0A8BEE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73CBA-6D88-480F-971F-1CC7B367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2FB53-8F6A-4690-8FEF-D8553DC9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B96E3-E6E7-4BFF-81DB-7D178612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Tickets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001F7-5A65-409E-AA66-912455F0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FD1C8-C6CA-4478-97FF-5C481F8A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Revenue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314E1-A6C9-435D-8989-181A7BD7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71700"/>
            <a:ext cx="3333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80167-68DC-4A39-B61E-988C30B2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717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2810F-F525-4DE0-AA78-D1E81E44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Trip Management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8E871-5ECC-4717-9D93-884094B4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EE7C8-3122-41DA-A8AB-CCC642DC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7655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Date/time labels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625C52-B45A-4BDB-AF6E-08A176BF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9AAF79-DE37-4AAC-8839-5D46266A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Bus selector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DDAD0-1E41-449E-A1B4-FDE84E17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004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6EBDB-3656-476D-A313-DD609F4C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7665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Staff assignment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4068F-3924-4949-B718-E92F89B9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005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C53B60-8A31-484C-A0BB-004A5604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767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Seat preview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90192-7636-4A78-B412-D4710A48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3333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FA932-4C92-484C-BC57-C9AF33AE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3D6FC2-61B6-43D9-A4DA-2703E984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C44754-DAE8-4A8A-A6ED-30E4D84E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7CFE05-B151-4BA4-ABBC-7D861921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 accounts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B9B7E0-DDBF-4E94-95AB-E1D562EB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04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3125DC-8F0F-47E2-92A5-847015D4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Staff accounts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E38F32-6B4B-4050-BE3E-630CC976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8EB5B4-5883-40AC-822C-34FEDBBD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Payments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814E81-0E81-4E6D-94F5-570F0257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18FA9B-4368-45A1-890B-034550BE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767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FA10DC-6A07-461C-B065-463275F0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911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admin web is both the management interface and the backend service provider for the Android apps.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DC6910-B705-4F6F-A34D-0E4EE6C5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FD4DE3-564C-4CE2-87D2-73994A0A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9BDBB9-4605-47C9-8BF6-ABE80D3D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74205701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B2107-52EE-4BC7-B058-CFD0F30F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887F1454-0324-4EA0-9FC9-BB79A06C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955C4-1380-41D5-8D1A-FA1FAC7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B4F12-A40E-4EAF-95E2-87F4836A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9A9DF-CAC8-41AC-85EA-852C233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091D6-AB03-4469-A89C-0654309D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Implementation results show the system working end-to-end.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4CA70-3D5F-436B-87C6-936DFFAB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C26BC-1BB5-46E9-A960-4AEC3EE1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F5E28-D9A1-4304-9629-D9B46C2D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Seed vehicles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D2627-7B1B-4546-A002-4F0291AD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479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CF31A-0392-406F-88C1-712A2C9B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03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B98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2B981"/>
                </a:solidFill>
                <a:latin typeface="Aptos"/>
                <a:ea typeface="Aptos"/>
                <a:cs typeface="Aptos"/>
              </a:rPr>
              <a:t>504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A67EE-B85E-4D4C-89E3-16A82CAB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Four-city seeded trips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BB04C-103A-4373-964C-50BA6007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5780F-B523-49EE-8AFE-941D8760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4B99A-0D33-4029-9FE4-E6AF37C0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Core apps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9EADA-065A-409E-B1A9-485E3179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479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45824-2F32-4DBD-9731-46295012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B5E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CB5E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0EB4E-76FE-4A5F-9CA5-3F04AB9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Staff check-in states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32DAA-C028-4172-93BB-01A964FE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70C41-148D-43F1-AA61-75372BF7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 App can search trips, choose seats, create tickets, pay with VNPAY, and display ticket QR.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F6234-0793-4E94-BD59-B5C9A2B2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7D164-89B7-4932-B597-E0046A7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Staff app can log in, read assigned trips, scan QR, verify tickets, check in passengers, and inspect seats.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F6D4A-1C51-42C5-9B06-E3986E39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F8C77-ACBC-4255-AA3E-1CD43533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Web admin can manage trips, buses, seats, users, staff assignment, tickets, payments, and statistics.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8D1AF-3541-4DC2-9AB3-78780A09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4AA34-9493-4C65-904C-88580B00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3238BF-4554-4641-B650-A629EC4D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42613409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059EB-9188-456C-B50B-5D1F0BD3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9D5BCC59-DDAD-4CCD-B40B-481DA585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45194-7EE0-4AA7-8E86-FCFEB173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D4167-CE4D-4463-A51B-D447BF22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DCEC3-8479-4E4E-BCE2-F508B8A1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C5597-02CD-4F2C-858E-88E53A45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Security and reliability are handled at the API and data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36D18-AEC7-4697-89E0-57E9AF64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105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ADD67-CD19-4628-B3A2-7E42E900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8CEF3-59AA-4774-9A6D-4BEFAC12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FCEC4-9DD9-43D4-B588-EA6EE5D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95550"/>
            <a:ext cx="2305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7AED0-FCE1-4A03-BFCD-48768F03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2686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Role-based access separates USER, STAFF, and ADMIN. Android clients call REST APIs instead of directly accessing MySQL.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BA8C3-E3A1-4EA0-A633-7C3BAF2C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3105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B850F-5F30-4163-A7F5-17AB26DA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1D303-DEC1-4C78-A62E-E00B8048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34A38-1621-4EE1-B7B3-751DDC8D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95550"/>
            <a:ext cx="2305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Consistency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F0AE2-D4A3-4550-A29C-6F88CAF1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686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Seat, ticket, payment, and check-in states are stored centrally so web admin and apps share the same source of truth.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2B88B-5466-456F-910C-C7FE77A0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3105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68A80-D8FF-4F83-A89C-EEB12ABC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2444B-A298-472F-BFAC-80C79011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754A2-821B-4981-9A66-8AF658CE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95550"/>
            <a:ext cx="2305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CA40C-58F3-443D-BB9E-0C96EE40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2686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Payment is confirmed through signed VNPAY response verification before ticket confirmation and QR availability.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98069-ED8C-4245-A830-BB3A6B91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36A916-153B-4116-B454-9DEB52D5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C2195-470D-4A62-9E7E-7ED05EFB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92756685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D4752B-094A-4557-8B43-CBF54296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1E625BCD-7C17-46A0-B047-707E6266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1CD3B-69EE-47E0-B305-5A5CF40C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81E60-7216-4EF2-9F7D-05F50547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BC1B6-2C4E-4274-B780-78E867D0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4E8FE-6BD6-4D71-89A3-7CE36B1F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next development step is operational scale.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6E132-49D5-41B9-A33C-E90379F9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AE0FA-D379-457F-9503-A06DA50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503C9-B277-4936-A50B-45B6C90F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88E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88E5"/>
                </a:solidFill>
                <a:latin typeface="Aptos"/>
                <a:ea typeface="Aptos"/>
                <a:cs typeface="Aptos"/>
              </a:rPr>
              <a:t>Near term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62934-1D1A-4C81-A5AB-2E054EDE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Polish Android UI, complete staff operational screens, and expand admin reporting.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2E417-5E65-4468-A180-2828E82C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CCA71-6B67-4571-A993-7242B3CD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E0033-E01B-4BC4-8D02-3AA67B95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B9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B981"/>
                </a:solidFill>
                <a:latin typeface="Aptos"/>
                <a:ea typeface="Aptos"/>
                <a:cs typeface="Aptos"/>
              </a:rPr>
              <a:t>Mid term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9026D-CE51-40E0-8189-2E8974C6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957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 notification, cancellation/refund workflow, route recommendations, and better seat layout tooling.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46FEA-843A-4472-A442-D5F42152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B280E-46C3-4171-83DC-C3274531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F8510-D380-42B1-9E8C-6DB3264D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Long term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F9BA9-6AC6-4CCA-8DBA-16DF31C4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196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Deploy backend to a public server, harden security, support multiple transport companies at scale.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2F701-4C13-4BD8-969C-AA7EF1DD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304D8-9BAC-434B-9561-EF79EE31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BusBooking - Online Intercity Bus Ticket Booking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20AF4-15AC-49BE-900F-FF2BB431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87A"/>
                </a:solidFill>
                <a:latin typeface="Aptos"/>
                <a:ea typeface="Aptos"/>
                <a:cs typeface="Aptos"/>
              </a:rP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83904235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1CDAAF-C620-453D-AE19-3B974B65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8BE76B50-35F1-4B1E-84DE-67D75E8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BD7FF"/>
                </a:solidFill>
                <a:latin typeface="Aptos"/>
                <a:ea typeface="Aptos"/>
                <a:cs typeface="Aptos"/>
              </a:rPr>
              <a:t>BUSBOOKING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F3343-EA97-4D67-8D2F-3F5489C9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1AEAC-A295-4889-983E-CCC8B3A1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7C7D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D9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51CCB-8B4E-4A09-8427-9F724B7A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8E9A2-2C3C-4267-B095-3F4667B6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571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98AF2-A722-4468-8DA3-3D59CD74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28700"/>
            <a:ext cx="857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BusBooking delivers a complete foundation for digital bus booking.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20A41-EA9C-4F85-B2E0-02FF664B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80C19-9903-4B5E-901D-46928236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4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4FF"/>
                </a:solidFill>
                <a:latin typeface="Aptos"/>
                <a:ea typeface="Aptos"/>
                <a:cs typeface="Aptos"/>
              </a:rPr>
              <a:t>Centralized Spring Boot + MySQL backend.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C0A0C-CED2-4752-AC2D-3BF426A4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008FD-326D-40FA-93F7-10F99A3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4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4FF"/>
                </a:solidFill>
                <a:latin typeface="Aptos"/>
                <a:ea typeface="Aptos"/>
                <a:cs typeface="Aptos"/>
              </a:rPr>
              <a:t>User App for booking and payment.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C939D-0B15-44FC-91CB-DE7B6F63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C0C26-E766-4000-849D-25BD3E29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4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4FF"/>
                </a:solidFill>
                <a:latin typeface="Aptos"/>
                <a:ea typeface="Aptos"/>
                <a:cs typeface="Aptos"/>
              </a:rPr>
              <a:t>Staff app for QR verification and passenger boarding.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4A15D-5DDA-499F-B363-DF58F049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5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4F622-48F5-4164-ADB7-14D152A3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4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4FF"/>
                </a:solidFill>
                <a:latin typeface="Aptos"/>
                <a:ea typeface="Aptos"/>
                <a:cs typeface="Aptos"/>
              </a:rPr>
              <a:t>Web admin for operations, assignments, and reporting.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9C57D-6C42-4283-B7EA-14D3AFA2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3751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5A330-9258-449E-8D54-32533EF5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239FA-AD9A-432C-986C-B69CFB8F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8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8F5"/>
                </a:solidFill>
                <a:latin typeface="Aptos"/>
                <a:ea typeface="Aptos"/>
                <a:cs typeface="Aptos"/>
              </a:rPr>
              <a:t>Questions &amp; discussion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B2A7E-5106-47F2-A9F2-F0548A28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912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7D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C7D9"/>
                </a:solidFill>
                <a:latin typeface="Aptos"/>
                <a:ea typeface="Aptos"/>
                <a:cs typeface="Aptos"/>
              </a:rPr>
              <a:t>Đặng Tú Nguyên - 24IT181 | Trần Anh Tân - 24IT237</a:t>
            </a:r>
          </a:p>
        </p:txBody>
      </p:sp>
    </p:spTree>
    <p:extLst>
      <p:ext uri="{BB962C8B-B14F-4D97-AF65-F5344CB8AC3E}">
        <p14:creationId xmlns:p14="http://schemas.microsoft.com/office/powerpoint/2010/main" val="1842870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2026-05-31T21:06:21.9990000Z</dcterms:created>
  <dcterms:modified xsi:type="dcterms:W3CDTF">2026-05-31T21:06:21.9990000Z</dcterms:modified>
</coreProperties>
</file>